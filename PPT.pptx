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  <p:sldId id="266" r:id="rId10"/>
    <p:sldId id="261" r:id="rId1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28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22EF3-16B6-ECA3-A3AF-75FBEF4ED4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E7AFA8D-2DB6-9784-F7A3-17D2EB479A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B6A68C-A990-CEA0-6882-9BD75868A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CF9F83-9348-7A24-6F13-26C6A8E1C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CE6DF6-B5E3-B26F-E506-BBE72236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964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81DBA7-00FD-06F7-E8D0-B972E39C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139186-C8AC-D835-5CBE-CA45ABE45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62E1A1-8B63-E7B9-C475-029683C88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F4EF3-4930-59E4-4701-6CDA5F0CA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657939-C2C8-8F9C-D0F7-E9A2232DF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96521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873D52-AA48-699B-3A6A-F5A2C4A79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113040B-E731-3571-D982-F7796B014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CD326A5-FA8E-BC21-FB71-6A08F51B2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76E2115-A8F4-23B2-F2BF-5D2DB7B58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5F2F71-B1BA-386A-B810-A206C2B19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4821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A9268-B764-6B94-01E7-D240375F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21B4C1-68C7-33EC-2E8C-FB7635153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533DE20-361A-0380-4AE2-47B7871962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675CEA-28F9-6B44-8A5F-86CEACB1F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028FE08-B857-C070-EDE0-880CB33C8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9585FDD-AF36-D086-CAE0-D26623E14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65214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EDAD28-8D08-79E3-224A-634844326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124859-1743-F9EE-0D96-BA2F2F162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663A38-BE9B-E42D-3B75-B266CE407C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9E82207-6FC1-B722-98E4-273B6BEA4D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977B367-55F7-EC73-F75C-AFC5D3C6D6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B081870-C1DC-643C-038A-D8405DA4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7531903-DEAD-F9D7-1990-06B95CABD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75A0B8F-6664-F99D-A836-D2129D2A3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3537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02743F-7F6F-C813-17A6-27624A2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F6F907F-1B0A-532D-20A0-0279773EF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D252DE3-2195-C71A-5C5E-1F9F1240A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A7A6EBD-1F87-1D05-FF2A-8D2658909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4665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FAEDCED-2E4A-9369-F4B1-27E0AF3EF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4661682-294D-3478-EF34-A5031C64A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3620EB-24BD-FB0E-332C-E2EF3A9E1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9835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5B4FE8-5481-8B66-1BFD-0238FA1A8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5BADAD-FBE7-1536-72E0-BD2EA37B2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902F87E-A779-08F4-53E0-1C3B70AFA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39B75A-3843-B087-E703-54E5CBBCA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620F85B-8B9D-2BCC-FB81-8D8CCAB82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4D9C508-D4E9-F3C3-F685-55C65429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3400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F6B6D-40E8-F98C-DBB6-65DF0BBEF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2DABC06-462A-395A-F38E-5ACF21FC49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69553D4-805D-6211-8E56-7E555CEBE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A0F725E-B85A-209C-99C1-48055BD5B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3AAAD12-5AB9-DAF6-9398-EC6853AB3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DF2AC6-394E-988F-A1FB-0F20CA00B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0925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4107EE-B424-749C-E829-29003CE48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878999F-05AD-0BAA-62F3-535B16533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60669A-476F-3186-E500-A5FCC9509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5DFF01-1091-ECFC-AAFE-3A048799D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AFBBCD2-4EE0-4C32-0A37-C20C6B203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9778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D8FBC69-21D8-B2C8-AA09-F7CA17140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FA24CCD-1AB8-40B2-CEBD-7D94D7CF4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20935F-0C8C-A454-6907-D714E4E91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FE6EC2-7AC9-C208-0A74-1E23F19C7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06F355-76AF-EE20-FE43-90A7BC82F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0110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B4D3B83-4494-8ADD-5DE8-D9BCEBAAD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7069BD0-FEAB-678D-D9A1-57DE7A58C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D12487F-A065-3E45-F193-1D5FB784C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A2C32DB-78BE-67BA-C88D-E6C5A7FA9E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92DA27-1367-3BE2-D2A7-5EDF7F934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4945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slide" Target="slide1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slide" Target="slide4.xml"/><Relationship Id="rId9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79ED2377-0915-3226-FD4F-55D70CA041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2083"/>
            <a:ext cx="12187236" cy="685532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D4EA606-84F5-3010-7735-547E0B69C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237" y="3424237"/>
            <a:ext cx="9525" cy="9525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7FBED7C0-8321-D507-9294-8FCF33206981}"/>
              </a:ext>
            </a:extLst>
          </p:cNvPr>
          <p:cNvSpPr txBox="1"/>
          <p:nvPr/>
        </p:nvSpPr>
        <p:spPr>
          <a:xfrm>
            <a:off x="7229756" y="728043"/>
            <a:ext cx="4957482" cy="369332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Oferta turística vs precios de vivienda en Madrid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E3C78B9-2FE9-6413-3DDC-FD1CF83E0CD2}"/>
              </a:ext>
            </a:extLst>
          </p:cNvPr>
          <p:cNvSpPr txBox="1"/>
          <p:nvPr/>
        </p:nvSpPr>
        <p:spPr>
          <a:xfrm>
            <a:off x="7229755" y="1097375"/>
            <a:ext cx="4742329" cy="144655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Participantes: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Nazareth Montero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Javier Pascual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Román Diaz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Sara Ruiz</a:t>
            </a:r>
          </a:p>
          <a:p>
            <a:pPr marL="285750" indent="-285750">
              <a:buFontTx/>
              <a:buChar char="-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5567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70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INDICE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88EBFC1-1E02-4789-9454-99F01FAC6DB2}"/>
              </a:ext>
            </a:extLst>
          </p:cNvPr>
          <p:cNvSpPr txBox="1"/>
          <p:nvPr/>
        </p:nvSpPr>
        <p:spPr>
          <a:xfrm>
            <a:off x="619024" y="2551837"/>
            <a:ext cx="2582944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900" b="1" dirty="0">
                <a:solidFill>
                  <a:schemeClr val="accent2">
                    <a:lumMod val="50000"/>
                  </a:schemeClr>
                </a:solidFill>
              </a:rPr>
              <a:t>1.  Definición del problema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4B400DA-C729-44BB-BE3B-E247C84DA4A5}"/>
              </a:ext>
            </a:extLst>
          </p:cNvPr>
          <p:cNvSpPr txBox="1"/>
          <p:nvPr/>
        </p:nvSpPr>
        <p:spPr>
          <a:xfrm>
            <a:off x="3357512" y="2551837"/>
            <a:ext cx="25829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algn="ctr">
              <a:defRPr sz="19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s-ES" dirty="0"/>
              <a:t>2.  Planteamiento de la hipótesis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B784E347-F5C9-4A79-9168-84317345A9F2}"/>
              </a:ext>
            </a:extLst>
          </p:cNvPr>
          <p:cNvSpPr txBox="1"/>
          <p:nvPr/>
        </p:nvSpPr>
        <p:spPr>
          <a:xfrm>
            <a:off x="6096000" y="2551837"/>
            <a:ext cx="2582944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>
              <a:defRPr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pPr algn="ctr"/>
            <a:r>
              <a:rPr lang="es-ES" sz="1900" dirty="0"/>
              <a:t>3.  Análisis de los datos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DDC2D2E-A2FD-4C46-8EAA-25B85D10657E}"/>
              </a:ext>
            </a:extLst>
          </p:cNvPr>
          <p:cNvSpPr txBox="1"/>
          <p:nvPr/>
        </p:nvSpPr>
        <p:spPr>
          <a:xfrm>
            <a:off x="8834488" y="2551837"/>
            <a:ext cx="2582944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900" b="1" dirty="0">
                <a:solidFill>
                  <a:schemeClr val="accent2">
                    <a:lumMod val="50000"/>
                  </a:schemeClr>
                </a:solidFill>
              </a:rPr>
              <a:t>4.  Conclusiones</a:t>
            </a:r>
          </a:p>
        </p:txBody>
      </p:sp>
      <p:pic>
        <p:nvPicPr>
          <p:cNvPr id="21" name="Imagen 20">
            <a:hlinkClick r:id="rId2" action="ppaction://hlinksldjump"/>
            <a:extLst>
              <a:ext uri="{FF2B5EF4-FFF2-40B4-BE49-F238E27FC236}">
                <a16:creationId xmlns:a16="http://schemas.microsoft.com/office/drawing/2014/main" id="{DE03F977-3C40-4F20-9EE4-C5C91406D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48" y="3415780"/>
            <a:ext cx="2027096" cy="1524132"/>
          </a:xfrm>
          <a:prstGeom prst="rect">
            <a:avLst/>
          </a:prstGeom>
        </p:spPr>
      </p:pic>
      <p:pic>
        <p:nvPicPr>
          <p:cNvPr id="23" name="Imagen 22">
            <a:hlinkClick r:id="rId4" action="ppaction://hlinksldjump"/>
            <a:extLst>
              <a:ext uri="{FF2B5EF4-FFF2-40B4-BE49-F238E27FC236}">
                <a16:creationId xmlns:a16="http://schemas.microsoft.com/office/drawing/2014/main" id="{8E462765-EE27-47AD-A1FF-936AA9FD03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5436" y="3423579"/>
            <a:ext cx="2027096" cy="1524131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99C6D544-9AD2-44B7-BC9E-27676F5A32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924" y="3410359"/>
            <a:ext cx="2027096" cy="1524132"/>
          </a:xfrm>
          <a:prstGeom prst="rect">
            <a:avLst/>
          </a:prstGeom>
        </p:spPr>
      </p:pic>
      <p:pic>
        <p:nvPicPr>
          <p:cNvPr id="27" name="Imagen 26">
            <a:hlinkClick r:id="rId7" action="ppaction://hlinksldjump"/>
            <a:extLst>
              <a:ext uri="{FF2B5EF4-FFF2-40B4-BE49-F238E27FC236}">
                <a16:creationId xmlns:a16="http://schemas.microsoft.com/office/drawing/2014/main" id="{7C93B224-86EE-4269-82A8-F866BC7C68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2412" y="3429000"/>
            <a:ext cx="2027096" cy="1518710"/>
          </a:xfrm>
          <a:prstGeom prst="rect">
            <a:avLst/>
          </a:prstGeom>
        </p:spPr>
      </p:pic>
      <p:pic>
        <p:nvPicPr>
          <p:cNvPr id="29" name="Imagen 28">
            <a:hlinkClick r:id="rId9" action="ppaction://hlinksldjump"/>
            <a:extLst>
              <a:ext uri="{FF2B5EF4-FFF2-40B4-BE49-F238E27FC236}">
                <a16:creationId xmlns:a16="http://schemas.microsoft.com/office/drawing/2014/main" id="{2F49A1E9-3C99-4A60-822B-A58643DA88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924" y="3415780"/>
            <a:ext cx="2027096" cy="1524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666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rgbClr val="582808"/>
                </a:solidFill>
                <a:latin typeface="+mj-lt"/>
              </a:rPr>
              <a:t>1. Definición del problema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E03F977-3C40-4F20-9EE4-C5C91406D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7385" y="471194"/>
            <a:ext cx="1066055" cy="801545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622169" y="1984574"/>
            <a:ext cx="1094766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582808"/>
                </a:solidFill>
              </a:rPr>
              <a:t>En los últimos años, el crecimiento de plataformas de alquiler turístico – como por ejemplo Airbnb – ha generado un intenso debate sobre su impacto en el mercado inmobiliario de grandes ciudades.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Madrid no es una excepción y la concentración que aquí se da de viviendas turísticas plantea dudas sobre su relación con el incremento de precio de las viviendas, la reducción de la oferta residencial o la posible desigualdad inmobiliaria que se da entre los distintos distritos y barrios de la ciudad.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Por ello, hemos querido centrar en estos puntos el análisis para poder objetivar esa relación más allá de las percepciones generales que puedan existir.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¿Existe realmente una relación entre la presión turística (medida según los datos de Airbnb) y el precio del metro cuadrado de las viviendas de los distintos distritos y barrios de Madrid?</a:t>
            </a:r>
          </a:p>
        </p:txBody>
      </p:sp>
    </p:spTree>
    <p:extLst>
      <p:ext uri="{BB962C8B-B14F-4D97-AF65-F5344CB8AC3E}">
        <p14:creationId xmlns:p14="http://schemas.microsoft.com/office/powerpoint/2010/main" val="1306012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rgbClr val="582808"/>
                </a:solidFill>
                <a:latin typeface="+mj-lt"/>
              </a:rPr>
              <a:t>2. Planteamiento de la hipótesis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716437" y="1948012"/>
            <a:ext cx="109476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582808"/>
                </a:solidFill>
              </a:rPr>
              <a:t>Nuestra hipótesis es que los barrios en los que existe una mayor densidad de oferta turística tienden a presentar precios más elevados por metro cuadrado, tanto en los casos de venta como en los casos de alquiler convencional.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Esto lo fundamentamos principalmente en la idea de que el alquiler turístico compite directamente con el alquiler residencial, ya que los propietarios obtienen mayores beneficios con el primero y la oferta de este último disminuye considerablemente.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Con esto se tensiona adicionalmente el mercado inmobiliario debido a que una parte del parque de vivienda se desplaza del mercado residencial al turístico, haciendo que aumente el precio debido a la escasez, lo que se hace mucho más latente en los barrios donde la presencia de alquileres turísticos es más alta. 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50EB176-532C-46FD-843F-A487D80BB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8850" y="479552"/>
            <a:ext cx="1315249" cy="98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521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3. Análisis de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716437" y="1760649"/>
            <a:ext cx="1094766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SI QUEREMOS PONER LA PARTE DE LA API DE IDEALISTA Y LIMPIEZA DE DATOS: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Para el análisis detallado de los datos, intentamos trabajar con la API de idealista en conjunto con los datos oficiales obtenidos de Airbnb, aunque esto primero nos fue imposible: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FF0000"/>
                </a:solidFill>
              </a:rPr>
              <a:t>PARTE JAVI API IDEALISTA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Por lo que decidimos centrarnos en los datos de Airbnb y en la información sobre el precio del metro cuadrado que si se recoge en el portal de idealista (tanto para venta como para alquiler).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FF0000"/>
                </a:solidFill>
              </a:rPr>
              <a:t>EXPLICAR LIMPIEZA DE DATOS INICIAL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endParaRPr lang="es-ES" dirty="0">
              <a:solidFill>
                <a:srgbClr val="582808"/>
              </a:solidFill>
            </a:endParaRPr>
          </a:p>
          <a:p>
            <a:endParaRPr lang="es-ES" dirty="0">
              <a:solidFill>
                <a:srgbClr val="582808"/>
              </a:solidFill>
            </a:endParaRPr>
          </a:p>
          <a:p>
            <a:endParaRPr lang="es-ES" dirty="0">
              <a:solidFill>
                <a:srgbClr val="582808"/>
              </a:solidFill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077493-1107-4CB2-82B6-41E6CCBCC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801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176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3. Análisis de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527901" y="5424674"/>
            <a:ext cx="111361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582808"/>
                </a:solidFill>
              </a:rPr>
              <a:t>En estas gráficas podemos observar que el número de anuncios que aparecer en Airbnb para Madrid se concentran principalmente en los distritos Centro, Salamanca y Tetuán, mientras que los distritos de Barajas, Villa de Vallecas o Vicálvaro apenas tienen presencia en la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077493-1107-4CB2-82B6-41E6CCBCC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80154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5716062F-860E-4239-9A85-1507519D8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01" y="1380813"/>
            <a:ext cx="5288437" cy="377353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DA5DD72-5101-4CD3-90CE-276FCB8D63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664" y="1380812"/>
            <a:ext cx="5288437" cy="377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56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3. Análisis de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527901" y="5424674"/>
            <a:ext cx="111361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582808"/>
                </a:solidFill>
              </a:rPr>
              <a:t>Como indicábamos al inicio, el número de anuncios está directamente relacionado con el precio del metro cuadrado para venta y alquiler que tienen las viviendas de los barrios y distritos más tensionados.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077493-1107-4CB2-82B6-41E6CCBCC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80154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0A4C087-230F-4192-844F-09538EC85C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78" y="1380811"/>
            <a:ext cx="5288438" cy="377353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89FC098-799D-483E-B3F3-94DE676546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661" y="1380811"/>
            <a:ext cx="5288438" cy="377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971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3. Análisis de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527901" y="5424674"/>
            <a:ext cx="111361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582808"/>
                </a:solidFill>
              </a:rPr>
              <a:t>Así mismo hemos analizado la distribución que se da según el tipo de alojamiento y dónde se concentran más en el mapa de Madrid, observando una gran concentración y las zonas centrales y donde prevalece el alquiler de viviendas completas por encima del de habitaciones privadas o compartidas.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077493-1107-4CB2-82B6-41E6CCBCC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801545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B2A5301-2F24-4F1F-87EB-D5C3BF5882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01" y="1380811"/>
            <a:ext cx="5288438" cy="377353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A966255-F1F0-45ED-A7F7-477F36F373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663" y="1380810"/>
            <a:ext cx="5288438" cy="377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219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3. Análisis de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7777113" y="2413337"/>
            <a:ext cx="3886986" cy="203132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just"/>
            <a:r>
              <a:rPr lang="es-ES" b="1" dirty="0">
                <a:solidFill>
                  <a:srgbClr val="582808"/>
                </a:solidFill>
              </a:rPr>
              <a:t>La tabla por distrito muestra una concentración muy marcada de anuncios en Centro, que acumula aproximadamente 4 de cada 10 anuncios del </a:t>
            </a:r>
            <a:r>
              <a:rPr lang="es-ES" b="1" dirty="0" err="1">
                <a:solidFill>
                  <a:srgbClr val="582808"/>
                </a:solidFill>
              </a:rPr>
              <a:t>Dataset</a:t>
            </a:r>
            <a:r>
              <a:rPr lang="es-ES" b="1" dirty="0">
                <a:solidFill>
                  <a:srgbClr val="582808"/>
                </a:solidFill>
              </a:rPr>
              <a:t> (≈40% del total) y una proporción similar de anuncios activos (≈41%).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077493-1107-4CB2-82B6-41E6CCBCC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801545"/>
          </a:xfrm>
          <a:prstGeom prst="rect">
            <a:avLst/>
          </a:prstGeom>
        </p:spPr>
      </p:pic>
      <p:graphicFrame>
        <p:nvGraphicFramePr>
          <p:cNvPr id="53" name="Tabla 52">
            <a:extLst>
              <a:ext uri="{FF2B5EF4-FFF2-40B4-BE49-F238E27FC236}">
                <a16:creationId xmlns:a16="http://schemas.microsoft.com/office/drawing/2014/main" id="{BD450BED-627B-4A95-8795-1533E6F67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291923"/>
              </p:ext>
            </p:extLst>
          </p:nvPr>
        </p:nvGraphicFramePr>
        <p:xfrm>
          <a:off x="575034" y="1291472"/>
          <a:ext cx="6391375" cy="5095458"/>
        </p:xfrm>
        <a:graphic>
          <a:graphicData uri="http://schemas.openxmlformats.org/drawingml/2006/table">
            <a:tbl>
              <a:tblPr/>
              <a:tblGrid>
                <a:gridCol w="1493911">
                  <a:extLst>
                    <a:ext uri="{9D8B030D-6E8A-4147-A177-3AD203B41FA5}">
                      <a16:colId xmlns:a16="http://schemas.microsoft.com/office/drawing/2014/main" val="1076773008"/>
                    </a:ext>
                  </a:extLst>
                </a:gridCol>
                <a:gridCol w="1315278">
                  <a:extLst>
                    <a:ext uri="{9D8B030D-6E8A-4147-A177-3AD203B41FA5}">
                      <a16:colId xmlns:a16="http://schemas.microsoft.com/office/drawing/2014/main" val="3713821199"/>
                    </a:ext>
                  </a:extLst>
                </a:gridCol>
                <a:gridCol w="1168923">
                  <a:extLst>
                    <a:ext uri="{9D8B030D-6E8A-4147-A177-3AD203B41FA5}">
                      <a16:colId xmlns:a16="http://schemas.microsoft.com/office/drawing/2014/main" val="223300591"/>
                    </a:ext>
                  </a:extLst>
                </a:gridCol>
                <a:gridCol w="1134988">
                  <a:extLst>
                    <a:ext uri="{9D8B030D-6E8A-4147-A177-3AD203B41FA5}">
                      <a16:colId xmlns:a16="http://schemas.microsoft.com/office/drawing/2014/main" val="4267260836"/>
                    </a:ext>
                  </a:extLst>
                </a:gridCol>
                <a:gridCol w="1278275">
                  <a:extLst>
                    <a:ext uri="{9D8B030D-6E8A-4147-A177-3AD203B41FA5}">
                      <a16:colId xmlns:a16="http://schemas.microsoft.com/office/drawing/2014/main" val="1312082851"/>
                    </a:ext>
                  </a:extLst>
                </a:gridCol>
              </a:tblGrid>
              <a:tr h="304863"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582808"/>
                          </a:solidFill>
                        </a:rPr>
                        <a:t>Distrito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 err="1">
                          <a:solidFill>
                            <a:srgbClr val="582808"/>
                          </a:solidFill>
                        </a:rPr>
                        <a:t>Nº</a:t>
                      </a:r>
                      <a:r>
                        <a:rPr lang="es-ES" sz="1300" b="1" dirty="0">
                          <a:solidFill>
                            <a:srgbClr val="582808"/>
                          </a:solidFill>
                        </a:rPr>
                        <a:t> de anuncios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582808"/>
                          </a:solidFill>
                        </a:rPr>
                        <a:t>Activos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582808"/>
                          </a:solidFill>
                        </a:rPr>
                        <a:t>% Anuncios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582808"/>
                          </a:solidFill>
                        </a:rPr>
                        <a:t>% Activos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64374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Centro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12718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10436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40.722359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41.576033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6744075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Salamanca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2065	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1655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6.612020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6.593363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29418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Tetuán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>
                          <a:solidFill>
                            <a:srgbClr val="582808"/>
                          </a:solidFill>
                        </a:rPr>
                        <a:t>2051	</a:t>
                      </a:r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1728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6.567193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6.884188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185212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Chamberí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>
                          <a:solidFill>
                            <a:srgbClr val="582808"/>
                          </a:solidFill>
                        </a:rPr>
                        <a:t>2022</a:t>
                      </a:r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	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1609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6.474336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6.410103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3882469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Arganzuela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1626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1247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5.206365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4.967930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480108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Carabanchel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1169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953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3.743076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3.796661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859772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Retiro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1151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914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3.685441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3.641289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69499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Chamartín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1085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848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3.474112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3.378351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3219230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Ciudad Lineal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1062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832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3.400467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3.314609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602091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Puente de Vallecas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998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777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3.195543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3.095494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4383750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Moncloa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907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683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2.904166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2.721007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747284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Latina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873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672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2.795300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2.677184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55180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Canillejas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713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512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2.282988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2.039759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422027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Usera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678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567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2.170920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2.258874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1093473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Hortaleza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663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566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2.122891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kern="1200" dirty="0">
                          <a:solidFill>
                            <a:srgbClr val="582808"/>
                          </a:solidFill>
                          <a:latin typeface="+mn-lt"/>
                          <a:ea typeface="+mn-ea"/>
                          <a:cs typeface="+mn-cs"/>
                        </a:rPr>
                        <a:t>2.254890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4106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9129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4. Conclusiones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0E8A36F-3A65-48CF-BE23-FC9326C2C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798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76286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720</Words>
  <Application>Microsoft Office PowerPoint</Application>
  <PresentationFormat>Panorámica</PresentationFormat>
  <Paragraphs>126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Sara Ruiz Iniesta</dc:creator>
  <cp:lastModifiedBy>Nazareth Montero Cordero</cp:lastModifiedBy>
  <cp:revision>12</cp:revision>
  <dcterms:created xsi:type="dcterms:W3CDTF">2026-01-04T18:35:09Z</dcterms:created>
  <dcterms:modified xsi:type="dcterms:W3CDTF">2026-01-07T17:20:43Z</dcterms:modified>
</cp:coreProperties>
</file>